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/>
      <p:bold r:id="rId12"/>
      <p:italic r:id="rId13"/>
    </p:embeddedFont>
    <p:embeddedFont>
      <p:font typeface="Space Grotesk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21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688105"/>
            <a:ext cx="5715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144166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Space Grotesk"/>
              </a:rPr>
              <a:t>PROYEK ANALISIS DATA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96591"/>
            <a:ext cx="9101137" cy="1207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sz="4500" b="1" i="0" u="none" dirty="0" err="1">
                <a:solidFill>
                  <a:srgbClr val="F8FAFC"/>
                </a:solidFill>
                <a:latin typeface="Space Grotesk"/>
              </a:rPr>
              <a:t>Analisis</a:t>
            </a:r>
            <a:r>
              <a:rPr sz="4500" b="1" i="0" u="none" dirty="0">
                <a:solidFill>
                  <a:srgbClr val="F8FAFC"/>
                </a:solidFill>
                <a:latin typeface="Space Grotesk"/>
              </a:rPr>
              <a:t> &amp; </a:t>
            </a:r>
            <a:r>
              <a:rPr sz="4500" b="1" i="0" u="none" dirty="0" err="1">
                <a:solidFill>
                  <a:srgbClr val="F8FAFC"/>
                </a:solidFill>
                <a:latin typeface="Space Grotesk"/>
              </a:rPr>
              <a:t>Prediksi</a:t>
            </a:r>
            <a:r>
              <a:rPr sz="4500" b="1" i="0" u="none" dirty="0">
                <a:solidFill>
                  <a:srgbClr val="F8FAFC"/>
                </a:solidFill>
                <a:latin typeface="Space Grotesk"/>
              </a:rPr>
              <a:t> Churn </a:t>
            </a:r>
            <a:r>
              <a:rPr sz="4500" b="1" i="0" u="none" dirty="0" err="1">
                <a:solidFill>
                  <a:srgbClr val="F8FAFC"/>
                </a:solidFill>
                <a:latin typeface="Space Grotesk"/>
              </a:rPr>
              <a:t>Pelanggan</a:t>
            </a:r>
            <a:r>
              <a:rPr sz="4500" b="1" i="0" u="none" dirty="0">
                <a:solidFill>
                  <a:srgbClr val="F8FAFC"/>
                </a:solidFill>
                <a:latin typeface="Space Grotesk"/>
              </a:rPr>
              <a:t> Telekomunikasi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99" y="3913733"/>
            <a:ext cx="902425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94A3B8"/>
                </a:solidFill>
                <a:latin typeface="Inter"/>
              </a:rPr>
              <a:t>Dari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Pembersihan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Data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Mentah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hingga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Strategi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Bisnis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Berbasis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Machine 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64D65-ADD1-2C42-6E42-9C4BAE39EEF8}"/>
              </a:ext>
            </a:extLst>
          </p:cNvPr>
          <p:cNvSpPr txBox="1"/>
          <p:nvPr/>
        </p:nvSpPr>
        <p:spPr>
          <a:xfrm>
            <a:off x="642255" y="4422683"/>
            <a:ext cx="902425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94A3B8"/>
                </a:solidFill>
                <a:latin typeface="Inter"/>
              </a:rPr>
              <a:t>Elisabeth Febri Astuti (Data Analis)</a:t>
            </a:r>
            <a:endParaRPr sz="20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02334"/>
            <a:ext cx="2600325" cy="1560016"/>
          </a:xfrm>
          <a:prstGeom prst="roundRect">
            <a:avLst>
              <a:gd name="adj" fmla="val 7326"/>
            </a:avLst>
          </a:prstGeom>
          <a:solidFill>
            <a:srgbClr val="F8FAFC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202334"/>
            <a:ext cx="260032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3202334"/>
            <a:ext cx="2600325" cy="1560016"/>
          </a:xfrm>
          <a:prstGeom prst="roundRect">
            <a:avLst>
              <a:gd name="adj" fmla="val 7326"/>
            </a:avLst>
          </a:prstGeom>
          <a:solidFill>
            <a:srgbClr val="F8FAFC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00425" y="3202334"/>
            <a:ext cx="260032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202334"/>
            <a:ext cx="2600325" cy="1560016"/>
          </a:xfrm>
          <a:prstGeom prst="roundRect">
            <a:avLst>
              <a:gd name="adj" fmla="val 7326"/>
            </a:avLst>
          </a:prstGeom>
          <a:solidFill>
            <a:srgbClr val="F8FAFC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250" y="3202334"/>
            <a:ext cx="260032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82075" y="3202334"/>
            <a:ext cx="2600325" cy="1560016"/>
          </a:xfrm>
          <a:prstGeom prst="roundRect">
            <a:avLst>
              <a:gd name="adj" fmla="val 7326"/>
            </a:avLst>
          </a:prstGeom>
          <a:solidFill>
            <a:srgbClr val="F8FAFC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82075" y="3202334"/>
            <a:ext cx="260032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Alur Kerja Analisis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8286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Tahapan sistematis dari eksplorasi hingga perumusan rekomendasi strategis.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469034"/>
            <a:ext cx="2238375" cy="102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TAHAP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9025" y="3469034"/>
            <a:ext cx="2238375" cy="102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TAHAP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3469034"/>
            <a:ext cx="2238375" cy="102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TAHAP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0675" y="3469034"/>
            <a:ext cx="2238375" cy="102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TAHAP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745259"/>
            <a:ext cx="281285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Data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069109"/>
            <a:ext cx="22383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Koreksi tipe data dan penanganan spasi kosong.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9025" y="3745259"/>
            <a:ext cx="281285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Eksplorasi (EDA)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9025" y="4069109"/>
            <a:ext cx="22383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Analisis distribusi target dan matriks korelasi.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745259"/>
            <a:ext cx="281285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4069109"/>
            <a:ext cx="22383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One-Hot Encoding pada 16 variabel kategorikal.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675" y="3745259"/>
            <a:ext cx="281285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Modeling &amp;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675" y="4069109"/>
            <a:ext cx="22383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Random Forest Classifier &amp; Rekomendasi Bisnis.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25030"/>
            <a:ext cx="5334000" cy="2333625"/>
          </a:xfrm>
          <a:prstGeom prst="roundRect">
            <a:avLst>
              <a:gd name="adj" fmla="val 48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625030"/>
            <a:ext cx="5334000" cy="2333625"/>
          </a:xfrm>
          <a:prstGeom prst="roundRect">
            <a:avLst>
              <a:gd name="adj" fmla="val 48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67930"/>
            <a:ext cx="390525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967930"/>
            <a:ext cx="3429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Tahap 1: Data Cleaning &amp;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8286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Mengatasi anomali data mentah agar siap diproses sistem.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01330"/>
            <a:ext cx="62007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Perbaikan Tipe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2330"/>
            <a:ext cx="4819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Kolom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TotalCharges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terbaca sebagai string karena adanya spasi kosong (" "). Dikonversi menjadi numerik float menggunakan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pd.to_numeric()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501330"/>
            <a:ext cx="56388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Penanganan Missing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882330"/>
            <a:ext cx="4819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Menghapus 11 baris data kosong yang tidak valid, menyisakan 7.032 baris bersih dari total 7.043 baris data awal untuk pemodelan.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67930"/>
            <a:ext cx="5334000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67930"/>
            <a:ext cx="5334000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Tahap 2: Eksplorasi Data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8286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Memeriksa distribusi target dan korelasi variabel numerik.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72730"/>
            <a:ext cx="4819650" cy="1419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DISTRIBUSI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3272730"/>
            <a:ext cx="4819650" cy="1419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MATRIKS KORELASI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10855"/>
            <a:ext cx="62007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Imbalanced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20430"/>
            <a:ext cx="4819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Sebanyak 73.4% pelanggan tidak churn (No), dan 26.6% pelanggan churn (Yes). Kondisi ini memerlukan perlakuan khusus pada bobot kelas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510855"/>
            <a:ext cx="56388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Hubungan Numerik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920430"/>
            <a:ext cx="4819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Variabel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tenure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memiliki korelasi negatif (-0.35) terhadap churn, menandakan semakin lama berlangganan, semakin kecil kemungkinan pelanggan pergi.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63217"/>
            <a:ext cx="350520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363217"/>
            <a:ext cx="350520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363217"/>
            <a:ext cx="350520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Tahap 3: Preprocessing &amp;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8286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Mempersiapkan dataset untuk algoritma Machine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629917"/>
            <a:ext cx="3900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Drop CustomerID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953767"/>
            <a:ext cx="30670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Menghapus kolom pengenal unik karena tidak memberikan pola prediktif.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629917"/>
            <a:ext cx="3900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Target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953767"/>
            <a:ext cx="30670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Mengubah label Churn (Yes/No) menjadi format numerik biner (1 dan 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629917"/>
            <a:ext cx="3848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One-Hot 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953767"/>
            <a:ext cx="30670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Mengubah 16 kolom kategorikal menjadi 31 total fitur numerik siap latih.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67930"/>
            <a:ext cx="5334000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67930"/>
            <a:ext cx="5334000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Tahap 4: Pelatihan Model (Random Forest)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8286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Penerapan parameter </a:t>
            </a:r>
            <a:r>
              <a:rPr sz="1350" b="0" i="1" u="none">
                <a:solidFill>
                  <a:srgbClr val="64748B"/>
                </a:solidFill>
                <a:latin typeface="Inter"/>
              </a:rPr>
              <a:t>class_weight='balanced'</a:t>
            </a:r>
            <a:r>
              <a:rPr sz="1350" b="0" i="0" u="none">
                <a:solidFill>
                  <a:srgbClr val="64748B"/>
                </a:solidFill>
                <a:latin typeface="Inter"/>
              </a:rPr>
              <a:t> untuk mendeteksi pelanggan churn.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72730"/>
            <a:ext cx="4819650" cy="1419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TRAIN TEST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3272730"/>
            <a:ext cx="4819650" cy="1419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EVALUASI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10855"/>
            <a:ext cx="62007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Pembagian Data 80:20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20430"/>
            <a:ext cx="4819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Data latih sebanyak 5.625 baris dan data uji sebanyak 1.407 baris untuk menguji performa generalisasi model secara objektif.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510855"/>
            <a:ext cx="56388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Peningkatan Recall Churn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920430"/>
            <a:ext cx="4819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Dengan pembobotan seimbang, skor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recall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kelas churn meningkat dari 0.48 menjadi 0.62, membuat model jauh lebih peka mendeteksi pelanggan berisiko.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63205"/>
            <a:ext cx="3530649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3263205"/>
            <a:ext cx="3530649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3263205"/>
            <a:ext cx="3530649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Temuan Utama: Faktor Penentu Churn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8286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Analisis </a:t>
            </a:r>
            <a:r>
              <a:rPr sz="1350" b="0" i="1" u="none">
                <a:solidFill>
                  <a:srgbClr val="64748B"/>
                </a:solidFill>
                <a:latin typeface="Inter"/>
              </a:rPr>
              <a:t>Feature Importance</a:t>
            </a:r>
            <a:r>
              <a:rPr sz="1350" b="0" i="0" u="none">
                <a:solidFill>
                  <a:srgbClr val="64748B"/>
                </a:solidFill>
                <a:latin typeface="Inter"/>
              </a:rPr>
              <a:t> menunjukkan variabel paling berpengaruh.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491805"/>
            <a:ext cx="3168699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RANK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349" y="3491805"/>
            <a:ext cx="3168699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RANK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499" y="3491805"/>
            <a:ext cx="3168699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RANK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91830"/>
            <a:ext cx="403390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TotalCharges &amp; Tenure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015680"/>
            <a:ext cx="31686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Akumulasi tagihan dan masa langganan awal menjadi prediktor paling dominan.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349" y="3691830"/>
            <a:ext cx="403390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MonthlyCharges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349" y="4015680"/>
            <a:ext cx="31686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Besaran pengeluaran bulanan memicu pertimbangan pelanggan untuk pergi.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99" y="3691830"/>
            <a:ext cx="3911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Contract &amp; Fiber Optic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99" y="4015680"/>
            <a:ext cx="31686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Jenis kontrak bulanan dan layanan internet tertentu rentan mengalami churn.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9342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39342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72717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172717"/>
            <a:ext cx="2286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Rekomendasi Bisnis: Pelanggan Baru &amp; Kontrak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8286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Strategi aksi untuk meningkatkan retensi di fase kritis.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68017"/>
            <a:ext cx="62007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Program Onboarding Eksklusif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49017"/>
            <a:ext cx="4819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Fokus pada pelanggan di 3 bulan pertama (tenure singkat) dengan memberikan edukasi layanan dan insentif khusus guna melewati masa rawan churn.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668017"/>
            <a:ext cx="56388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Insentif Upgrade Kontrak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4049017"/>
            <a:ext cx="4819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Memberikan diskon atau bonus kuota bagi pelanggan berisiko yang beralih dari kontrak bulanan (Month-to-month) ke kontrak 1 atau 2 tahun.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9342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39342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72717"/>
            <a:ext cx="3810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172717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411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Space Grotesk"/>
              </a:rPr>
              <a:t>Rekomendasi Bisnis: Harga &amp; Layanan Teknis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8286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Optimalisasi nilai layanan dan responsivitas dukungan.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68017"/>
            <a:ext cx="62007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Bundling Layanan Cerdas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49017"/>
            <a:ext cx="4819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Menawarkan paket terintegrasi (internet, telepon, hiburan) bagi pelanggan dengan tagihan bulanan tinggi agar merasa mendapat nilai ekonomis optimal.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668017"/>
            <a:ext cx="56388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Garansi Respon Cepat (SLA)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4049017"/>
            <a:ext cx="4819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Memastikan kendala teknis pengguna layanan internet cepat (seperti Fiber optic) ditangani secara cepat untuk menjaga kepuasan pelanggan.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3273" y="2776537"/>
            <a:ext cx="3625453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Space Grotesk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557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Space Grotesk</vt:lpstr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THINKPAD</cp:lastModifiedBy>
  <cp:revision>2</cp:revision>
  <dcterms:created xsi:type="dcterms:W3CDTF">2013-01-27T09:14:16Z</dcterms:created>
  <dcterms:modified xsi:type="dcterms:W3CDTF">2026-10-21T01:41:19Z</dcterms:modified>
  <cp:category/>
</cp:coreProperties>
</file>